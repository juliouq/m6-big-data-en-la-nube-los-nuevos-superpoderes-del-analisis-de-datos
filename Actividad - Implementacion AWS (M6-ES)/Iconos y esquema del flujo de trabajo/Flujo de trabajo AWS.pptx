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C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23" autoAdjust="0"/>
  </p:normalViewPr>
  <p:slideViewPr>
    <p:cSldViewPr snapToGrid="0">
      <p:cViewPr varScale="1">
        <p:scale>
          <a:sx n="161" d="100"/>
          <a:sy n="161" d="100"/>
        </p:scale>
        <p:origin x="2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BB53B-B010-4A04-BC23-45A535029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67964B-0354-4DFA-9C02-EFFF50B90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3C7FA9-9689-4E34-AF48-1B32FCDA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40C83E-3180-4651-8474-B7F44DC7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57B4DF-8F65-4C43-B775-9C1A8D4E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3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6A35F-AE09-4E4F-B1E3-919D842F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5B6EF2-12F1-41BE-8737-59FD02A8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94D26D-37D1-4BF2-AA6B-D0C436A9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46210C-62C6-4CBF-9DEA-819B1946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AD2286-E165-4EAA-8591-226EFDA9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61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C3379-19E0-4A41-9783-A9CB39F2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F75191-189B-4F2A-903D-C8DF7E40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391125-6FDA-4D4E-A872-C8E9E28E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BA1F31-8FD0-4314-AA47-42C0FFC1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1563D0-75A3-49FF-8587-40D72918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42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ED243-9271-4E0C-AA2A-13AEA159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D985F-6333-405E-806F-A823B032A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B6DB1A-6473-4228-8B78-AC6FDEEE5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36EE16-B73B-4030-9E66-824F9384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E4AB74-6909-4AA3-A010-CCFFDB77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20CB53-545D-4F73-A11C-EE37B2E9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79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9459B-1E91-47D1-BEE0-CCED0543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1030F0-3BAB-469B-8177-39AC27FE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B7CC59-011C-436B-95D7-DB3E3A9EF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D97009-C705-494B-BF3F-FE330E258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0D166A-353E-4A0B-AA36-75BBBC7EE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4D931E-672A-4274-AB4E-55C4E383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1AFD198-35FF-4D06-AB2E-54F6FB75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DF5388-EA86-47D4-A49A-5F2242FC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82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5C8D5-ED52-48BF-BF38-25E14C29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82C854-F048-46A8-A90E-ED2DCDA4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DE1088-3684-4AB8-9BBB-054512E6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0883F0-DDE3-481E-8F81-22E6EB4A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420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A97944-9E0D-443A-8BE8-521EDF02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B96FEA-7F96-468E-9C00-9E7BEEB8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41065F-E072-481A-959A-F8F0DACB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54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92EF1-375F-48FE-A6A8-E7ABA26C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F4D296-E752-484F-A680-9BAAE8C81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58DF57-D218-49D6-85BD-08CE34045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D10975-25EE-4F04-8688-DF53CA50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D616B0-F401-4F5F-A211-A871D572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C9568C-CB7B-427E-9955-17324A8A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963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7CE7-E0D1-4AFA-9BC6-B55F19DF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4A097E-39CA-449B-A6D6-E848D5415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11C7AC-DCE9-42AE-AEA4-ED7239863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8CDD14-7802-4CDC-85DB-7AFCF5A1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E85887-4060-480A-B3F3-B0CF7FBF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F5512B-A2DF-4D80-B8C5-8ABA9C4D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86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011FF-DF86-4AD6-AD22-D1688FBC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64A317-F9E3-49AE-B293-31EF4A892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0AF88-2363-4BB5-9475-1F4F5DAA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74A80C-6CBE-40A8-BEBA-DCE9B024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271224-235B-4999-8B50-096377D8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79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225190-69AE-4060-B502-5AA284541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2A5E11-E043-490D-A52E-D69A2DCD7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040EC-0F63-4281-9F69-F878236F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A28ED2-2F92-4870-A056-FC60811C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CCB40C-10C4-4F11-92FB-138515C4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110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38FEA2-0A7B-4A5A-AC4F-0697A8407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CF9E7A-CF50-4DDA-891D-BDA73BDA5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119922-9CB7-4374-94C4-BAAB48DE8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73691-0CE6-4CB9-8FF0-4BDC4020B88E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D9BAD4-7610-4705-8935-65E421DAE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F86500-5DF5-4B47-AFBD-5D86EAEA4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2F936-7880-42EF-B9D7-1A45C50101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31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jp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8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022950-B61F-4E53-993F-410CE8459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12" y="478600"/>
            <a:ext cx="755215" cy="75521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AF252DD-90DB-4640-A38D-110D0EDAC73D}"/>
              </a:ext>
            </a:extLst>
          </p:cNvPr>
          <p:cNvSpPr txBox="1"/>
          <p:nvPr/>
        </p:nvSpPr>
        <p:spPr>
          <a:xfrm>
            <a:off x="566260" y="201601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Mastodon API</a:t>
            </a:r>
          </a:p>
        </p:txBody>
      </p:sp>
      <p:pic>
        <p:nvPicPr>
          <p:cNvPr id="8" name="Graphic 5" descr="Amazon Elastic Compute Cloud (Amazon EC2) service icon.">
            <a:extLst>
              <a:ext uri="{FF2B5EF4-FFF2-40B4-BE49-F238E27FC236}">
                <a16:creationId xmlns:a16="http://schemas.microsoft.com/office/drawing/2014/main" id="{A2339452-7C89-4722-82D9-EEFE9EFD5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883421" y="3664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D7E04470-4B17-4E44-8558-AB6FF9E64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010" y="1130055"/>
            <a:ext cx="21056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Amazon Elastic Compute Cloud (Amazon EC2)</a:t>
            </a:r>
          </a:p>
        </p:txBody>
      </p:sp>
      <p:pic>
        <p:nvPicPr>
          <p:cNvPr id="16" name="Graphic 9" descr="Amazon Kinesis Data Streams service icon.">
            <a:extLst>
              <a:ext uri="{FF2B5EF4-FFF2-40B4-BE49-F238E27FC236}">
                <a16:creationId xmlns:a16="http://schemas.microsoft.com/office/drawing/2014/main" id="{54074CD6-3C90-4D42-ADCD-9F6B92965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4690057" y="36639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8FACCCF8-632A-4A22-A720-1E70ABAD2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318" y="1089205"/>
            <a:ext cx="1489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Amazon Kinesis</a:t>
            </a:r>
            <a:b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Data Streams</a:t>
            </a:r>
          </a:p>
        </p:txBody>
      </p:sp>
      <p:pic>
        <p:nvPicPr>
          <p:cNvPr id="20" name="Graphic 14" descr="Amazon Athena service icon.">
            <a:extLst>
              <a:ext uri="{FF2B5EF4-FFF2-40B4-BE49-F238E27FC236}">
                <a16:creationId xmlns:a16="http://schemas.microsoft.com/office/drawing/2014/main" id="{C0DF0372-9A8C-41DA-9412-1E7B0BFC1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8969522" y="465958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41" descr="Data source connectors resource icon for the Amazon Athena service.">
            <a:extLst>
              <a:ext uri="{FF2B5EF4-FFF2-40B4-BE49-F238E27FC236}">
                <a16:creationId xmlns:a16="http://schemas.microsoft.com/office/drawing/2014/main" id="{1DA964F5-DF02-4CF9-AFA0-6D9A224B34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67257" y="5819333"/>
            <a:ext cx="457200" cy="457200"/>
          </a:xfrm>
          <a:prstGeom prst="rect">
            <a:avLst/>
          </a:prstGeom>
        </p:spPr>
      </p:pic>
      <p:sp>
        <p:nvSpPr>
          <p:cNvPr id="22" name="TextBox 24">
            <a:extLst>
              <a:ext uri="{FF2B5EF4-FFF2-40B4-BE49-F238E27FC236}">
                <a16:creationId xmlns:a16="http://schemas.microsoft.com/office/drawing/2014/main" id="{154CA516-2D1E-45EF-8823-13A14BA1F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250" y="6324888"/>
            <a:ext cx="1277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Consultas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SQL para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análisis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endParaRPr lang="en-US" altLang="en-US" sz="10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B068CCD1-0358-4B75-908B-F430BDC21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531" y="3397228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Amazon EventBridge</a:t>
            </a:r>
          </a:p>
        </p:txBody>
      </p:sp>
      <p:pic>
        <p:nvPicPr>
          <p:cNvPr id="25" name="Graphic 37" descr="Event resource icon for the Amazon EventBridge service.">
            <a:extLst>
              <a:ext uri="{FF2B5EF4-FFF2-40B4-BE49-F238E27FC236}">
                <a16:creationId xmlns:a16="http://schemas.microsoft.com/office/drawing/2014/main" id="{09FA5979-A711-4F9E-BDC6-E1C8371F36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42351" y="3635416"/>
            <a:ext cx="457200" cy="457200"/>
          </a:xfrm>
          <a:prstGeom prst="rect">
            <a:avLst/>
          </a:prstGeom>
        </p:spPr>
      </p:pic>
      <p:sp>
        <p:nvSpPr>
          <p:cNvPr id="26" name="TextBox 18">
            <a:extLst>
              <a:ext uri="{FF2B5EF4-FFF2-40B4-BE49-F238E27FC236}">
                <a16:creationId xmlns:a16="http://schemas.microsoft.com/office/drawing/2014/main" id="{31C08745-FA50-47FF-8B10-C6C1FEAF6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448" y="4094221"/>
            <a:ext cx="11874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Evento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diario</a:t>
            </a:r>
            <a:endParaRPr lang="en-US" altLang="en-US" sz="10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46" descr="Instance instance icon for the Amazon EC2 service.">
            <a:extLst>
              <a:ext uri="{FF2B5EF4-FFF2-40B4-BE49-F238E27FC236}">
                <a16:creationId xmlns:a16="http://schemas.microsoft.com/office/drawing/2014/main" id="{2E7FE6FA-916F-4CE1-8369-49CB71CCBA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3216" y="1605160"/>
            <a:ext cx="457200" cy="457200"/>
          </a:xfrm>
          <a:prstGeom prst="rect">
            <a:avLst/>
          </a:prstGeom>
        </p:spPr>
      </p:pic>
      <p:sp>
        <p:nvSpPr>
          <p:cNvPr id="30" name="TextBox 16">
            <a:extLst>
              <a:ext uri="{FF2B5EF4-FFF2-40B4-BE49-F238E27FC236}">
                <a16:creationId xmlns:a16="http://schemas.microsoft.com/office/drawing/2014/main" id="{B7510ACD-B7A8-45FD-8C35-2334BEECA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888" y="2123725"/>
            <a:ext cx="17930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Productor de Mastodon</a:t>
            </a:r>
          </a:p>
        </p:txBody>
      </p:sp>
      <p:pic>
        <p:nvPicPr>
          <p:cNvPr id="31" name="Graphic 10" descr="AWS Lambda service icon.">
            <a:extLst>
              <a:ext uri="{FF2B5EF4-FFF2-40B4-BE49-F238E27FC236}">
                <a16:creationId xmlns:a16="http://schemas.microsoft.com/office/drawing/2014/main" id="{F84534FF-CD7B-4FCD-970F-94AF2DB6C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6190806" y="35338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ED58A9EF-6021-4064-ACB4-D979FC7A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343206" y="1510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A38949C9-689A-41A9-AC69-E0D5572D1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367" y="1982309"/>
            <a:ext cx="14719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Procesar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del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flujo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de kinesis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hacia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S3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25852023-14AB-4FFC-BE97-91D8A48F4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113" y="1123879"/>
            <a:ext cx="1166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37" name="Graphic 17" descr="AWS Secrets Manager service icon.">
            <a:extLst>
              <a:ext uri="{FF2B5EF4-FFF2-40B4-BE49-F238E27FC236}">
                <a16:creationId xmlns:a16="http://schemas.microsoft.com/office/drawing/2014/main" id="{4D2D1E0A-7A55-4C76-B100-814070CF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82306" y="357844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11">
            <a:extLst>
              <a:ext uri="{FF2B5EF4-FFF2-40B4-BE49-F238E27FC236}">
                <a16:creationId xmlns:a16="http://schemas.microsoft.com/office/drawing/2014/main" id="{E7FF3200-7328-4C92-B860-C5E611BE6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7" y="4340442"/>
            <a:ext cx="1805116" cy="60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  <a:p>
            <a:pPr algn="ctr" eaLnBrk="1" hangingPunct="1"/>
            <a:r>
              <a:rPr lang="en-US" altLang="en-US" sz="105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05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Almacena</a:t>
            </a:r>
            <a:r>
              <a:rPr lang="en-US" altLang="en-US" sz="105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las claves/tokens de Mastodon y </a:t>
            </a:r>
            <a:r>
              <a:rPr lang="en-US" altLang="en-US" sz="105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HuggingFace</a:t>
            </a:r>
            <a:r>
              <a:rPr lang="en-US" altLang="en-US" sz="105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12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8" descr="Amazon Simple Storage Service (Amazon S3) service icon.">
            <a:extLst>
              <a:ext uri="{FF2B5EF4-FFF2-40B4-BE49-F238E27FC236}">
                <a16:creationId xmlns:a16="http://schemas.microsoft.com/office/drawing/2014/main" id="{366600BB-9FB4-435F-B332-CDF55424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8045737" y="36051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9">
            <a:extLst>
              <a:ext uri="{FF2B5EF4-FFF2-40B4-BE49-F238E27FC236}">
                <a16:creationId xmlns:a16="http://schemas.microsoft.com/office/drawing/2014/main" id="{6440CEAD-D1E3-4B60-8DDE-88C1B8B85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625" y="1114957"/>
            <a:ext cx="1846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41" name="Graphic 3" descr="Directory bucket resource icon for the Amazon S3 service.">
            <a:extLst>
              <a:ext uri="{FF2B5EF4-FFF2-40B4-BE49-F238E27FC236}">
                <a16:creationId xmlns:a16="http://schemas.microsoft.com/office/drawing/2014/main" id="{13715161-DA1E-4E3E-9A8A-A7D93A9ED6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8211314" y="1585429"/>
            <a:ext cx="457200" cy="457200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7CA0FC4C-8010-4C62-88E2-516688A83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662" y="2042629"/>
            <a:ext cx="17348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almacenados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el Bucket dentro de </a:t>
            </a:r>
            <a:r>
              <a:rPr lang="en-US" altLang="en-US" sz="1000" i="1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rawdata</a:t>
            </a:r>
            <a:endParaRPr lang="en-US" altLang="en-US" sz="1000" i="1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A32D549F-CE86-4400-8B17-CBE6117F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3845" y="5421398"/>
            <a:ext cx="1257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Athena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DF20D769-A48F-428E-A214-F78C7A468E15}"/>
              </a:ext>
            </a:extLst>
          </p:cNvPr>
          <p:cNvSpPr/>
          <p:nvPr/>
        </p:nvSpPr>
        <p:spPr>
          <a:xfrm>
            <a:off x="5941808" y="197019"/>
            <a:ext cx="1349073" cy="226727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D58CF6F4-E94E-4977-B2E2-C80A83A1C5C0}"/>
              </a:ext>
            </a:extLst>
          </p:cNvPr>
          <p:cNvSpPr/>
          <p:nvPr/>
        </p:nvSpPr>
        <p:spPr>
          <a:xfrm>
            <a:off x="7557582" y="210033"/>
            <a:ext cx="1734885" cy="2267279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0" name="Graphic 10" descr="AWS Lambda service icon.">
            <a:extLst>
              <a:ext uri="{FF2B5EF4-FFF2-40B4-BE49-F238E27FC236}">
                <a16:creationId xmlns:a16="http://schemas.microsoft.com/office/drawing/2014/main" id="{1C01A3D0-D206-4953-8F79-F441C00B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10336655" y="34712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4EE19CAF-D845-4F6B-B09C-78CB7FDF0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9847421" y="152250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7">
            <a:extLst>
              <a:ext uri="{FF2B5EF4-FFF2-40B4-BE49-F238E27FC236}">
                <a16:creationId xmlns:a16="http://schemas.microsoft.com/office/drawing/2014/main" id="{05DC81E7-DC0C-4AD1-9CE0-72091D419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3806" y="1970158"/>
            <a:ext cx="13444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Análisis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sentimientos</a:t>
            </a:r>
            <a:endParaRPr lang="en-US" altLang="en-US" sz="10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20">
            <a:extLst>
              <a:ext uri="{FF2B5EF4-FFF2-40B4-BE49-F238E27FC236}">
                <a16:creationId xmlns:a16="http://schemas.microsoft.com/office/drawing/2014/main" id="{CB02DEF2-0839-4E77-B8EA-4D3DF0FB1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0962" y="1117627"/>
            <a:ext cx="1166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6C114E6-A13F-4EA3-87E8-48D38BC515B4}"/>
              </a:ext>
            </a:extLst>
          </p:cNvPr>
          <p:cNvSpPr/>
          <p:nvPr/>
        </p:nvSpPr>
        <p:spPr>
          <a:xfrm>
            <a:off x="9536148" y="205906"/>
            <a:ext cx="2303869" cy="226727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85750447-AA19-41B4-A181-27787DB7361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074" y="1456285"/>
            <a:ext cx="523422" cy="523422"/>
          </a:xfrm>
          <a:prstGeom prst="rect">
            <a:avLst/>
          </a:prstGeom>
        </p:spPr>
      </p:pic>
      <p:sp>
        <p:nvSpPr>
          <p:cNvPr id="57" name="TextBox 17">
            <a:extLst>
              <a:ext uri="{FF2B5EF4-FFF2-40B4-BE49-F238E27FC236}">
                <a16:creationId xmlns:a16="http://schemas.microsoft.com/office/drawing/2014/main" id="{85CBF53F-B20A-4340-AF42-689FBC2D4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0570" y="1969512"/>
            <a:ext cx="13444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i="1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HuggingFace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API</a:t>
            </a:r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766A11EC-164B-45C9-B767-6E0F0237CB3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65" y="1587527"/>
            <a:ext cx="475085" cy="475085"/>
          </a:xfrm>
          <a:prstGeom prst="rect">
            <a:avLst/>
          </a:prstGeom>
        </p:spPr>
      </p:pic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A9E8F3C1-0CAC-4E96-9DA9-4389A1D19A0B}"/>
              </a:ext>
            </a:extLst>
          </p:cNvPr>
          <p:cNvSpPr/>
          <p:nvPr/>
        </p:nvSpPr>
        <p:spPr>
          <a:xfrm>
            <a:off x="2135245" y="224984"/>
            <a:ext cx="2219291" cy="226727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1" name="Graphic 8" descr="Amazon Simple Storage Service (Amazon S3) service icon.">
            <a:extLst>
              <a:ext uri="{FF2B5EF4-FFF2-40B4-BE49-F238E27FC236}">
                <a16:creationId xmlns:a16="http://schemas.microsoft.com/office/drawing/2014/main" id="{6093D85D-ED38-48EA-9981-8D46E6CA6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10668461" y="466714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Box 9">
            <a:extLst>
              <a:ext uri="{FF2B5EF4-FFF2-40B4-BE49-F238E27FC236}">
                <a16:creationId xmlns:a16="http://schemas.microsoft.com/office/drawing/2014/main" id="{F9ADE9FD-4877-4FEA-A825-69787D29F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6349" y="5421589"/>
            <a:ext cx="1846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63" name="Graphic 3" descr="Directory bucket resource icon for the Amazon S3 service.">
            <a:extLst>
              <a:ext uri="{FF2B5EF4-FFF2-40B4-BE49-F238E27FC236}">
                <a16:creationId xmlns:a16="http://schemas.microsoft.com/office/drawing/2014/main" id="{F59D8A48-F77F-4200-8736-1D3D9F3F0E9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834038" y="5892061"/>
            <a:ext cx="457200" cy="457200"/>
          </a:xfrm>
          <a:prstGeom prst="rect">
            <a:avLst/>
          </a:prstGeom>
        </p:spPr>
      </p:pic>
      <p:sp>
        <p:nvSpPr>
          <p:cNvPr id="64" name="TextBox 20">
            <a:extLst>
              <a:ext uri="{FF2B5EF4-FFF2-40B4-BE49-F238E27FC236}">
                <a16:creationId xmlns:a16="http://schemas.microsoft.com/office/drawing/2014/main" id="{DE857B4C-6BD4-4CA7-9AA0-418BE5E35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7942" y="6334070"/>
            <a:ext cx="19996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almacenados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el Bucket dentro de </a:t>
            </a:r>
            <a:r>
              <a:rPr lang="en-US" altLang="en-US" sz="1000" i="1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processeddata</a:t>
            </a:r>
            <a:endParaRPr lang="en-US" altLang="en-US" sz="1000" i="1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3BD67EA8-BF34-41A4-8868-26249D50599E}"/>
              </a:ext>
            </a:extLst>
          </p:cNvPr>
          <p:cNvSpPr/>
          <p:nvPr/>
        </p:nvSpPr>
        <p:spPr>
          <a:xfrm>
            <a:off x="10180306" y="4516665"/>
            <a:ext cx="1734885" cy="2267279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90062721-8FC2-462A-A092-1D83485A9D16}"/>
              </a:ext>
            </a:extLst>
          </p:cNvPr>
          <p:cNvSpPr/>
          <p:nvPr/>
        </p:nvSpPr>
        <p:spPr>
          <a:xfrm>
            <a:off x="8656434" y="4475444"/>
            <a:ext cx="1349073" cy="226727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2801DF22-9013-4950-948F-6068C06A6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6613376" y="462353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Box 6">
            <a:extLst>
              <a:ext uri="{FF2B5EF4-FFF2-40B4-BE49-F238E27FC236}">
                <a16:creationId xmlns:a16="http://schemas.microsoft.com/office/drawing/2014/main" id="{DCDC7D67-1CC7-4E4A-B192-F4E12BCE4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965" y="5387123"/>
            <a:ext cx="21056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Amazon Elastic Compute Cloud (Amazon EC2)</a:t>
            </a:r>
          </a:p>
        </p:txBody>
      </p:sp>
      <p:pic>
        <p:nvPicPr>
          <p:cNvPr id="71" name="Graphic 46" descr="Instance instance icon for the Amazon EC2 service.">
            <a:extLst>
              <a:ext uri="{FF2B5EF4-FFF2-40B4-BE49-F238E27FC236}">
                <a16:creationId xmlns:a16="http://schemas.microsoft.com/office/drawing/2014/main" id="{D72AE970-C3B1-46E5-A9E3-5943670391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55636" y="5866429"/>
            <a:ext cx="457200" cy="457200"/>
          </a:xfrm>
          <a:prstGeom prst="rect">
            <a:avLst/>
          </a:prstGeom>
        </p:spPr>
      </p:pic>
      <p:sp>
        <p:nvSpPr>
          <p:cNvPr id="72" name="TextBox 16">
            <a:extLst>
              <a:ext uri="{FF2B5EF4-FFF2-40B4-BE49-F238E27FC236}">
                <a16:creationId xmlns:a16="http://schemas.microsoft.com/office/drawing/2014/main" id="{CAF57595-E579-42ED-AE00-09F1323E2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836" y="6366079"/>
            <a:ext cx="17930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Aplicación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Dashboard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Streamlit</a:t>
            </a:r>
            <a:endParaRPr lang="en-US" altLang="en-US" sz="10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C3E6C149-B5D4-4373-97E2-2391F2788DD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785" y="5848796"/>
            <a:ext cx="475085" cy="475085"/>
          </a:xfrm>
          <a:prstGeom prst="rect">
            <a:avLst/>
          </a:prstGeom>
        </p:spPr>
      </p:pic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51B50A6A-1154-4EE4-A1C5-E3FAF03063B5}"/>
              </a:ext>
            </a:extLst>
          </p:cNvPr>
          <p:cNvSpPr/>
          <p:nvPr/>
        </p:nvSpPr>
        <p:spPr>
          <a:xfrm>
            <a:off x="5717593" y="4486664"/>
            <a:ext cx="2653814" cy="226727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0C3E84A5-92CF-42F8-8FA2-69C07B6E171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920" y="5794585"/>
            <a:ext cx="583506" cy="583506"/>
          </a:xfrm>
          <a:prstGeom prst="rect">
            <a:avLst/>
          </a:prstGeom>
        </p:spPr>
      </p:pic>
      <p:sp>
        <p:nvSpPr>
          <p:cNvPr id="73" name="Flecha: a la derecha 72">
            <a:extLst>
              <a:ext uri="{FF2B5EF4-FFF2-40B4-BE49-F238E27FC236}">
                <a16:creationId xmlns:a16="http://schemas.microsoft.com/office/drawing/2014/main" id="{AF32E7A6-1851-4833-BC2B-13D3E510D069}"/>
              </a:ext>
            </a:extLst>
          </p:cNvPr>
          <p:cNvSpPr/>
          <p:nvPr/>
        </p:nvSpPr>
        <p:spPr>
          <a:xfrm rot="10800000">
            <a:off x="8204572" y="4995419"/>
            <a:ext cx="686232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Flecha: a la derecha 45">
            <a:extLst>
              <a:ext uri="{FF2B5EF4-FFF2-40B4-BE49-F238E27FC236}">
                <a16:creationId xmlns:a16="http://schemas.microsoft.com/office/drawing/2014/main" id="{07C55E46-1782-4548-98FD-7293BB7CD43D}"/>
              </a:ext>
            </a:extLst>
          </p:cNvPr>
          <p:cNvSpPr/>
          <p:nvPr/>
        </p:nvSpPr>
        <p:spPr>
          <a:xfrm>
            <a:off x="7169082" y="741514"/>
            <a:ext cx="583505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Flecha: a la derecha 44">
            <a:extLst>
              <a:ext uri="{FF2B5EF4-FFF2-40B4-BE49-F238E27FC236}">
                <a16:creationId xmlns:a16="http://schemas.microsoft.com/office/drawing/2014/main" id="{4DDB0330-0CD8-446F-9D38-2905AA4E285B}"/>
              </a:ext>
            </a:extLst>
          </p:cNvPr>
          <p:cNvSpPr/>
          <p:nvPr/>
        </p:nvSpPr>
        <p:spPr>
          <a:xfrm>
            <a:off x="5528257" y="746187"/>
            <a:ext cx="583505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1" name="Imagen 80">
            <a:extLst>
              <a:ext uri="{FF2B5EF4-FFF2-40B4-BE49-F238E27FC236}">
                <a16:creationId xmlns:a16="http://schemas.microsoft.com/office/drawing/2014/main" id="{9F3EE27C-886D-4CCB-B1C8-561AA00A52F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884" y="4522531"/>
            <a:ext cx="1446356" cy="1446356"/>
          </a:xfrm>
          <a:prstGeom prst="rect">
            <a:avLst/>
          </a:prstGeom>
        </p:spPr>
      </p:pic>
      <p:sp>
        <p:nvSpPr>
          <p:cNvPr id="82" name="TextBox 16">
            <a:extLst>
              <a:ext uri="{FF2B5EF4-FFF2-40B4-BE49-F238E27FC236}">
                <a16:creationId xmlns:a16="http://schemas.microsoft.com/office/drawing/2014/main" id="{5F13801C-9159-4A8A-906E-BBAB21466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795" y="6053717"/>
            <a:ext cx="16536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Análisis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interactivo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tiempo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real de los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endParaRPr lang="en-US" altLang="en-US" sz="1000" dirty="0">
              <a:latin typeface="+mn-lt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7D51A456-903C-416A-86AF-009807288450}"/>
              </a:ext>
            </a:extLst>
          </p:cNvPr>
          <p:cNvSpPr/>
          <p:nvPr/>
        </p:nvSpPr>
        <p:spPr>
          <a:xfrm>
            <a:off x="3726731" y="749947"/>
            <a:ext cx="759220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Flecha: a la derecha 48">
            <a:extLst>
              <a:ext uri="{FF2B5EF4-FFF2-40B4-BE49-F238E27FC236}">
                <a16:creationId xmlns:a16="http://schemas.microsoft.com/office/drawing/2014/main" id="{7C48C784-E9E7-4D5F-8259-8E1F8BAB7E70}"/>
              </a:ext>
            </a:extLst>
          </p:cNvPr>
          <p:cNvSpPr/>
          <p:nvPr/>
        </p:nvSpPr>
        <p:spPr>
          <a:xfrm>
            <a:off x="8891201" y="749947"/>
            <a:ext cx="847063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Flecha: a la derecha 65">
            <a:extLst>
              <a:ext uri="{FF2B5EF4-FFF2-40B4-BE49-F238E27FC236}">
                <a16:creationId xmlns:a16="http://schemas.microsoft.com/office/drawing/2014/main" id="{91AB7585-48A2-4BB2-8CC0-C0BD1A8B7919}"/>
              </a:ext>
            </a:extLst>
          </p:cNvPr>
          <p:cNvSpPr/>
          <p:nvPr/>
        </p:nvSpPr>
        <p:spPr>
          <a:xfrm rot="5400000">
            <a:off x="9958802" y="3357884"/>
            <a:ext cx="2209644" cy="275552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Flecha: a la derecha 66">
            <a:extLst>
              <a:ext uri="{FF2B5EF4-FFF2-40B4-BE49-F238E27FC236}">
                <a16:creationId xmlns:a16="http://schemas.microsoft.com/office/drawing/2014/main" id="{1FBA4AFC-DDEF-4855-9FE3-03D0D377F7CF}"/>
              </a:ext>
            </a:extLst>
          </p:cNvPr>
          <p:cNvSpPr/>
          <p:nvPr/>
        </p:nvSpPr>
        <p:spPr>
          <a:xfrm rot="10800000">
            <a:off x="9840277" y="4998863"/>
            <a:ext cx="762001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Flecha: a la derecha 82">
            <a:extLst>
              <a:ext uri="{FF2B5EF4-FFF2-40B4-BE49-F238E27FC236}">
                <a16:creationId xmlns:a16="http://schemas.microsoft.com/office/drawing/2014/main" id="{9D98C763-C804-4082-94AD-E16003D3F5E2}"/>
              </a:ext>
            </a:extLst>
          </p:cNvPr>
          <p:cNvSpPr/>
          <p:nvPr/>
        </p:nvSpPr>
        <p:spPr>
          <a:xfrm rot="10800000">
            <a:off x="4221957" y="4812002"/>
            <a:ext cx="1632280" cy="592299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TextBox 16">
            <a:extLst>
              <a:ext uri="{FF2B5EF4-FFF2-40B4-BE49-F238E27FC236}">
                <a16:creationId xmlns:a16="http://schemas.microsoft.com/office/drawing/2014/main" id="{7552071D-6552-4006-B36A-72A57C19A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689" y="5776774"/>
            <a:ext cx="17930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Boto3 + pyathena</a:t>
            </a:r>
          </a:p>
        </p:txBody>
      </p:sp>
      <p:sp>
        <p:nvSpPr>
          <p:cNvPr id="90" name="Nube 89">
            <a:extLst>
              <a:ext uri="{FF2B5EF4-FFF2-40B4-BE49-F238E27FC236}">
                <a16:creationId xmlns:a16="http://schemas.microsoft.com/office/drawing/2014/main" id="{23E8A758-800B-450D-968A-136C06C7E488}"/>
              </a:ext>
            </a:extLst>
          </p:cNvPr>
          <p:cNvSpPr/>
          <p:nvPr/>
        </p:nvSpPr>
        <p:spPr>
          <a:xfrm rot="11048505">
            <a:off x="4307194" y="5520443"/>
            <a:ext cx="1244028" cy="69197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4" name="Graphic 17" descr="Amazon CloudWatch service icon.">
            <a:extLst>
              <a:ext uri="{FF2B5EF4-FFF2-40B4-BE49-F238E27FC236}">
                <a16:creationId xmlns:a16="http://schemas.microsoft.com/office/drawing/2014/main" id="{45617E00-2FD9-4725-BF8A-13F23378A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82306" y="529171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Box 9">
            <a:extLst>
              <a:ext uri="{FF2B5EF4-FFF2-40B4-BE49-F238E27FC236}">
                <a16:creationId xmlns:a16="http://schemas.microsoft.com/office/drawing/2014/main" id="{E3A393F2-2FBF-413E-BE3C-B90A48B1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47" y="6085703"/>
            <a:ext cx="16344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CloudWatch</a:t>
            </a:r>
          </a:p>
          <a:p>
            <a:pPr algn="ctr" eaLnBrk="1" hangingPunct="1"/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Monitoreo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recursos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y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aplicaciones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6F7E9B3-0950-49F3-BC9A-2255E29F5315}"/>
              </a:ext>
            </a:extLst>
          </p:cNvPr>
          <p:cNvSpPr/>
          <p:nvPr/>
        </p:nvSpPr>
        <p:spPr>
          <a:xfrm>
            <a:off x="1527130" y="739036"/>
            <a:ext cx="840757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D8DE40D6-5EDA-4B9D-A645-CC6592547B50}"/>
              </a:ext>
            </a:extLst>
          </p:cNvPr>
          <p:cNvSpPr/>
          <p:nvPr/>
        </p:nvSpPr>
        <p:spPr>
          <a:xfrm>
            <a:off x="5456865" y="2504666"/>
            <a:ext cx="1330435" cy="19395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Graphic 19" descr="Amazon EventBridge service icon.">
            <a:extLst>
              <a:ext uri="{FF2B5EF4-FFF2-40B4-BE49-F238E27FC236}">
                <a16:creationId xmlns:a16="http://schemas.microsoft.com/office/drawing/2014/main" id="{0DC792FD-57D0-4F5F-9423-221FA6C2F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 bwMode="auto">
          <a:xfrm>
            <a:off x="5742918" y="26261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" name="Graphic 10" descr="AWS Lambda service icon.">
            <a:extLst>
              <a:ext uri="{FF2B5EF4-FFF2-40B4-BE49-F238E27FC236}">
                <a16:creationId xmlns:a16="http://schemas.microsoft.com/office/drawing/2014/main" id="{BE746A19-4815-4BFE-ACF0-FCE1A5D01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7353481" y="2584791"/>
            <a:ext cx="762000" cy="701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56A3DCB-5026-47E7-B0B9-0EF53761F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7571089" y="3567493"/>
            <a:ext cx="457200" cy="421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" name="TextBox 17">
            <a:extLst>
              <a:ext uri="{FF2B5EF4-FFF2-40B4-BE49-F238E27FC236}">
                <a16:creationId xmlns:a16="http://schemas.microsoft.com/office/drawing/2014/main" id="{F7759BA5-8566-4321-8388-C95B6700E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801" y="3964307"/>
            <a:ext cx="14719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Añadir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datos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particionados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 err="1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en</a:t>
            </a:r>
            <a:r>
              <a:rPr lang="en-US" altLang="en-US" sz="10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 Athena</a:t>
            </a:r>
          </a:p>
        </p:txBody>
      </p:sp>
      <p:sp>
        <p:nvSpPr>
          <p:cNvPr id="144" name="TextBox 20">
            <a:extLst>
              <a:ext uri="{FF2B5EF4-FFF2-40B4-BE49-F238E27FC236}">
                <a16:creationId xmlns:a16="http://schemas.microsoft.com/office/drawing/2014/main" id="{42376433-04C7-4BAB-BC10-3F1F8D0D6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788" y="3295080"/>
            <a:ext cx="11668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+mn-lt"/>
                <a:ea typeface="Amazon Ember" panose="020B0603020204020204" pitchFamily="34" charset="0"/>
                <a:cs typeface="Arial" panose="020B0604020202020204" pitchFamily="34" charset="0"/>
              </a:rPr>
              <a:t>AWS Lambda</a:t>
            </a:r>
          </a:p>
        </p:txBody>
      </p:sp>
      <p:sp>
        <p:nvSpPr>
          <p:cNvPr id="145" name="Rectángulo: esquinas redondeadas 144">
            <a:extLst>
              <a:ext uri="{FF2B5EF4-FFF2-40B4-BE49-F238E27FC236}">
                <a16:creationId xmlns:a16="http://schemas.microsoft.com/office/drawing/2014/main" id="{597DAAF5-4DFA-4BC1-8D50-BE4F59EB2CE6}"/>
              </a:ext>
            </a:extLst>
          </p:cNvPr>
          <p:cNvSpPr/>
          <p:nvPr/>
        </p:nvSpPr>
        <p:spPr>
          <a:xfrm>
            <a:off x="7063680" y="2519291"/>
            <a:ext cx="1349073" cy="192492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Flecha: a la derecha 134">
            <a:extLst>
              <a:ext uri="{FF2B5EF4-FFF2-40B4-BE49-F238E27FC236}">
                <a16:creationId xmlns:a16="http://schemas.microsoft.com/office/drawing/2014/main" id="{7D7836AE-1734-46E7-B803-27DC57CA258C}"/>
              </a:ext>
            </a:extLst>
          </p:cNvPr>
          <p:cNvSpPr/>
          <p:nvPr/>
        </p:nvSpPr>
        <p:spPr>
          <a:xfrm>
            <a:off x="6661053" y="3090001"/>
            <a:ext cx="583505" cy="225468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7" name="Flecha: doblada hacia arriba 146">
            <a:extLst>
              <a:ext uri="{FF2B5EF4-FFF2-40B4-BE49-F238E27FC236}">
                <a16:creationId xmlns:a16="http://schemas.microsoft.com/office/drawing/2014/main" id="{FC751DE0-E9F5-495C-BD40-5176739CF227}"/>
              </a:ext>
            </a:extLst>
          </p:cNvPr>
          <p:cNvSpPr/>
          <p:nvPr/>
        </p:nvSpPr>
        <p:spPr>
          <a:xfrm flipV="1">
            <a:off x="8352130" y="3891417"/>
            <a:ext cx="1172327" cy="489269"/>
          </a:xfrm>
          <a:prstGeom prst="bentUpArrow">
            <a:avLst>
              <a:gd name="adj1" fmla="val 25000"/>
              <a:gd name="adj2" fmla="val 25000"/>
              <a:gd name="adj3" fmla="val 32609"/>
            </a:avLst>
          </a:prstGeom>
          <a:solidFill>
            <a:srgbClr val="ADCDEA"/>
          </a:solidFill>
          <a:ln>
            <a:solidFill>
              <a:srgbClr val="ADCDE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Rectángulo: esquinas redondeadas 147">
            <a:extLst>
              <a:ext uri="{FF2B5EF4-FFF2-40B4-BE49-F238E27FC236}">
                <a16:creationId xmlns:a16="http://schemas.microsoft.com/office/drawing/2014/main" id="{E1CD6611-E365-458E-A682-4D82598B6D47}"/>
              </a:ext>
            </a:extLst>
          </p:cNvPr>
          <p:cNvSpPr/>
          <p:nvPr/>
        </p:nvSpPr>
        <p:spPr>
          <a:xfrm>
            <a:off x="4455107" y="205906"/>
            <a:ext cx="1349073" cy="226727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FC520EC8-4D54-4311-90EE-2C54E1F68708}"/>
              </a:ext>
            </a:extLst>
          </p:cNvPr>
          <p:cNvSpPr/>
          <p:nvPr/>
        </p:nvSpPr>
        <p:spPr>
          <a:xfrm>
            <a:off x="12200" y="3083417"/>
            <a:ext cx="1957606" cy="3767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9FCC1E44-49B0-4C09-BB79-891C451DC481}"/>
              </a:ext>
            </a:extLst>
          </p:cNvPr>
          <p:cNvSpPr/>
          <p:nvPr/>
        </p:nvSpPr>
        <p:spPr>
          <a:xfrm>
            <a:off x="19578" y="15406"/>
            <a:ext cx="12160222" cy="682718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Graphic 33">
            <a:extLst>
              <a:ext uri="{FF2B5EF4-FFF2-40B4-BE49-F238E27FC236}">
                <a16:creationId xmlns:a16="http://schemas.microsoft.com/office/drawing/2014/main" id="{94D2D7EE-519D-4121-A60B-297368A34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3637" y="15406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465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132</Words>
  <Application>Microsoft Office PowerPoint</Application>
  <PresentationFormat>Panorámica</PresentationFormat>
  <Paragraphs>27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quesada ubeda</dc:creator>
  <cp:lastModifiedBy>julio quesada ubeda</cp:lastModifiedBy>
  <cp:revision>13</cp:revision>
  <dcterms:created xsi:type="dcterms:W3CDTF">2026-01-21T16:53:37Z</dcterms:created>
  <dcterms:modified xsi:type="dcterms:W3CDTF">2026-01-21T22:08:20Z</dcterms:modified>
</cp:coreProperties>
</file>